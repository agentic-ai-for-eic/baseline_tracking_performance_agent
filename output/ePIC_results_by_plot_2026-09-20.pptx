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ePIC tracking &amp; ML PID — results by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11274552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Each slide: one result figure, the exact merit equation, and the data source behind it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Tracking: 150 clean files (26.02.0, minQ2=1) vs 200 +background files (26.07.1, minQ2=1); truth bins in pT (log) × η (0.5) × species; match weight ≥ 0.5; ≥ 50 entries/bin or flagged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ML PID: eid/ehad (backward leg, headline), Kpi/pK (exploratory), pooled (cross-check); LightGBM/XGBoost/sklearn-HGB, file-grouped splits, held-out evaluation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Figures from three folders: output/plots/ (evaluate+importance, tagged names), output/plots_clean/ + output/plots_bkg_mixed/ (working-point figures per tag)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Outputs: output/*.json/.md/.root + output/plots/*.png; manifests 104/104 clean, 26/26 bkg</a:t>
            </a:r>
          </a:p>
          <a:p>
            <a:pPr>
              <a:spcAft>
                <a:spcPts val="300"/>
              </a:spcAft>
              <a:defRPr sz="1600" b="1">
                <a:solidFill>
                  <a:srgbClr val="C00000"/>
                </a:solidFill>
              </a:defRPr>
            </a:pPr>
            <a:r>
              <a:t>ML working points are PRELIMINARY — physics attribution gate under adjudication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Geometric acceptance: hadrons covered, backward electrons not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output/acceptance_clean_vs_pt.png — acceptance vs pT, curves per species/η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A = N_in_acc / N_gen,  N_in_acc = particles with ≥ 4 of 7 hit collections firing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Error: Wilson 95% score interval (never zero-width at A = 1, NaN at n = 0)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π⁺ central (pT ~1.1 GeV, η 0.25): 0.697 clean vs 0.740 bkg — agree; acceptance is background-independent by construction, so this validates the cross-campaign comparison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Backward e⁻ (η −2.75): ≈ 0 in both tags — outside the central tracker by geometry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Colors = species, marker shapes = η bins; read one curve per (species, η)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706 bins compared; bkg side 606 bins, 390 flagged (&lt; 50 entries)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output/acceptance_clean.json (150 files) vs acceptance_bkg_mixed.json (200 files) → acceptance_comparison.json</a:t>
            </a:r>
          </a:p>
        </p:txBody>
      </p:sp>
      <p:pic>
        <p:nvPicPr>
          <p:cNvPr id="4" name="Picture 3" descr="acceptance_clean_vs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28473"/>
            <a:ext cx="5928055" cy="4234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Momentum resolution ≈ 2% core, Gaussian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output/resolution_clean_sigma_vs_pt.png — fitted core σ vs 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δ = (pT_reco − pT_truth) / pT_truth,  fit TH1F.Fit(TF1 gaus), two-pass core refit ±3σ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σ bounded to the physical [0, 1] (100% resolution ceiling); bound-pinned fits reported converged=False, never as huge numbers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Converged medians: σ = 0.019 (e⁻) / 0.016 (π⁺); χ²/ndf of order 1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Reco momentum from CentralCKFTrackParameters (qOverP, θ, φ) — CentralCKFTracks.momentum is all zeros in these files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output/resolution_clean.json (150 files, ROOT fits) vs resolution_bkg_mixed.json (200 files) → resolution_comparison.json (666 bins)</a:t>
            </a:r>
          </a:p>
        </p:txBody>
      </p:sp>
      <p:pic>
        <p:nvPicPr>
          <p:cNvPr id="4" name="Picture 3" descr="resolution_clean_sigma_vs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28473"/>
            <a:ext cx="5928055" cy="4234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Track-finding efficiency ≈ 0.97, no background loss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absolute (top) and within-acceptance (bottom) vs 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ε_abs = N_matched / N_truth   and   ε_in = N_matched_in_acc / N_in_acc,  Wilson 95% errors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π⁺ central: ε_abs 0.960 clean vs 0.954 bkg; ε_in 0.971 vs 0.969 — no visible degradation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Both efficiencies measured directly (not acceptance × conditional); floor on the smaller denominator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706 bins compared; under-fed bkg bins flagged, never silently filled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output/efficiency_clean.json vs efficiency_bkg_mixed.json → efficiency_comparison.json</a:t>
            </a:r>
          </a:p>
        </p:txBody>
      </p:sp>
      <p:pic>
        <p:nvPicPr>
          <p:cNvPr id="4" name="Picture 3" descr="efficiency_clean_absolute_vs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278" y="1261872"/>
            <a:ext cx="3661257" cy="2615184"/>
          </a:xfrm>
          <a:prstGeom prst="rect">
            <a:avLst/>
          </a:prstGeom>
        </p:spPr>
      </p:pic>
      <p:pic>
        <p:nvPicPr>
          <p:cNvPr id="5" name="Picture 4" descr="efficiency_clean_within_acceptance_vs_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278" y="4014215"/>
            <a:ext cx="3661257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Fake rate: background explodes soft-track combinatorics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clean linear (top) vs +background log-y (bottom)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f = N_fake / N_tracks,  fake = reco track with no weight-≥0.5 truth match; Wilson 95% errors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Binned in the track's OWN (pT, η) — a fake has no true species; never measured on single-particle gun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Low pT (~0.15 GeV): 0.000 clean vs 0.47–0.96 +background across η — the one tracking metric background breaks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118 bins compared clean-vs-bkg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output/fake-rate_clean.json vs fake-rate_bkg_mixed.json → fake-rate_comparison.json</a:t>
            </a:r>
          </a:p>
        </p:txBody>
      </p:sp>
      <p:pic>
        <p:nvPicPr>
          <p:cNvPr id="4" name="Picture 3" descr="fake-rate_clean_vs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278" y="1261872"/>
            <a:ext cx="3661257" cy="2615184"/>
          </a:xfrm>
          <a:prstGeom prst="rect">
            <a:avLst/>
          </a:prstGeom>
        </p:spPr>
      </p:pic>
      <p:pic>
        <p:nvPicPr>
          <p:cNvPr id="5" name="Picture 4" descr="fake-rate_bkg_mixed_vs_pt_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278" y="4014215"/>
            <a:ext cx="3661257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ML inputs: detector response only — 52 features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52-column allowlist (leg-scoped tasks use their leg's half)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61872"/>
          <a:ext cx="112745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Variables (×2 legs where shown)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200"/>
                        <a:t>ECAL E/p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e_over_p, log_e_over_p (backward + forward)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200"/>
                        <a:t>ECAL cluster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E, n, t, ΔR, has_shape, shape_0..6, rms_x/y/r, core_frac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24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200"/>
                        <a:t>HCAL + leakage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E, n, t, ΔR, e_hcal, leakage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200"/>
                        <a:t>Cherenkov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has_drich_gas/aerogel, gas/aerogel pathlength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200"/>
                        <a:t>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chi2, ndf, chi2/ndf, proj_pathlength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200"/>
                        <a:t>Flags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has_ecal, has_hcal (×2 legs)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200"/>
                        <a:t>NEVER 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p/pT/η (binning vars), charge, truth, producer 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39312"/>
            <a:ext cx="11274552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000000"/>
                </a:solidFill>
              </a:defRPr>
            </a:pPr>
            <a:r>
              <a:t>Missing stays NaN + has_* flag — never zero-filled; all-NaN columns dropped loudly (eid matrix: 52 → 30 real inputs)</a:t>
            </a:r>
          </a:p>
          <a:p>
            <a:pPr>
              <a:spcAft>
                <a:spcPts val="200"/>
              </a:spcAft>
              <a:defRPr sz="1600" b="0">
                <a:solidFill>
                  <a:srgbClr val="000000"/>
                </a:solidFill>
              </a:defRPr>
            </a:pPr>
            <a:r>
              <a:t>Fail-closed allowlist + NEVER-model patterns (mc_/true_/gen_, weights, ids); leakage tripwire halts at |corr| &gt; 0.95</a:t>
            </a:r>
          </a:p>
          <a:p>
            <a:pPr>
              <a:spcAft>
                <a:spcPts val="200"/>
              </a:spcAft>
              <a:defRPr sz="1300" b="0">
                <a:solidFill>
                  <a:srgbClr val="404040"/>
                </a:solidFill>
              </a:defRPr>
            </a:pPr>
            <a:r>
              <a:t>Source: pid/config.ALLOWED_BASELINE_COLUMNS; feature tables output/pid-features_{clean,bkg_mixed}.pkl (627k / 93k rows)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Feature importance: calorimeter energy leads, E/p decides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pid-eid_lightgbm_clean-importance.png — SHAP / gain / permutation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SHAP top (eid, LightGBM, clean): ecal_backward_E 1.96, ecal_backward_n 0.42, log_e_over_p 0.37, e_over_p 0.36, ndf 0.22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Gain top: ecal_backward_E 0.59, log_e_over_p 0.20, e_over_p 0.11 — gain counts usage, SHAP measures decision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Gate: E/p must lead SHAP for eid/ehad — here raw ECAL energy outranks it → physics FAIL under adjudication (shortcut vs over-strict gate)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+Background agrees on the ranking (SHAP: E 1.76, n 0.50, E/p 0.30; gain: E 0.80) — the attribution pattern is stable across tags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Exact TreeSHAP from the booster (no shap package); multiclass XGB averages over classes; HGB uses gain + permutation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output/pid-eid_lightgbm_clean-importance-{gain,shap,permutation}.json; 52 rows each</a:t>
            </a:r>
          </a:p>
        </p:txBody>
      </p:sp>
      <p:pic>
        <p:nvPicPr>
          <p:cNvPr id="4" name="Picture 3" descr="pid-eid_lightgbm_clean-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663397"/>
            <a:ext cx="5928055" cy="25644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ROC: electron ID holds up on +background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ROC, clean (top) vs +background (bottom)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eff(c) = S(c)/Stot,  fake(c) = B(c)/Btot;  AUC = P(s_sig &gt; s_bkg)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Clean (top): AUC 0.9978, 38k e / 2k π held out; +background (bottom): AUC 0.9947, 3.4k e / 180 π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Same classifier family, same cuts vocabulary — the bkg curve sits marginally below, not collapsed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Dotted verticals mark the 10⁻²/10⁻³/10⁻⁴ working-point targets on both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output/plots/pid-eid_lightgbm_{clean,bkg_mixed}-roc.png (evaluate, tagged names)</a:t>
            </a:r>
          </a:p>
        </p:txBody>
      </p:sp>
      <p:pic>
        <p:nvPicPr>
          <p:cNvPr id="4" name="Picture 3" descr="pid-eid_lightgbm_clean-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465" y="1261872"/>
            <a:ext cx="2930883" cy="2615184"/>
          </a:xfrm>
          <a:prstGeom prst="rect">
            <a:avLst/>
          </a:prstGeom>
        </p:spPr>
      </p:pic>
      <p:pic>
        <p:nvPicPr>
          <p:cNvPr id="5" name="Picture 4" descr="pid-eid_lightgbm_bkg_mixed-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465" y="4014215"/>
            <a:ext cx="2930883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Efficiency at fixed fake rate, both tags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efficiency vs fake-rate target, clean (top) vs +background (bottom)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Clean: eff 96.9% @ 1% fake (achieved 0.97%), 94.7% @ 0.1% — Garwood intervals on counts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Bkg: eff 89.4% @ ~1% (achieved 0.56%), 87.1% @ 0.1% (0 background passing — limit regime)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Working points read off each tag's own ROC, so the comparison is apples-to-apples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output/plots/pid-eid_lightgbm_{clean,bkg_mixed}-eff_vs_fake.png</a:t>
            </a:r>
          </a:p>
        </p:txBody>
      </p:sp>
      <p:pic>
        <p:nvPicPr>
          <p:cNvPr id="4" name="Picture 3" descr="pid-eid_lightgbm_clean-eff_vs_f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465" y="1261872"/>
            <a:ext cx="2930883" cy="2615184"/>
          </a:xfrm>
          <a:prstGeom prst="rect">
            <a:avLst/>
          </a:prstGeom>
        </p:spPr>
      </p:pic>
      <p:pic>
        <p:nvPicPr>
          <p:cNvPr id="5" name="Picture 4" descr="pid-eid_lightgbm_bkg_mixed-eff_vs_f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465" y="4014215"/>
            <a:ext cx="2930883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Separation power: nσ = 4.0 clean, 3.6 +background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pid-eid_nsigma_vs_p.png, clean (top) vs +background (bottom)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nσ = 2·erfinv(2·AUC − 1)  [exact for equal-width Gaussians, fit-free];  fallback: logit-space Gaussian fits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eid: nσ 4.03 clean (top) → 3.58 bkg (bottom); ehad: 4.02 → 3.65 (LightGBM, held-out)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AUC = 1 saturates the estimator → 95% CL lower limit d_L from the no-overlap integral, never ∞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Circles = point estimates, triangles = limits, crosses = thin bins; 3σ line drawn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output/plots_{clean,bkg_mixed}/pid-eid_nsigma_vs_p.png (per-bin AUC tables)</a:t>
            </a:r>
          </a:p>
        </p:txBody>
      </p:sp>
      <p:pic>
        <p:nvPicPr>
          <p:cNvPr id="4" name="Picture 3" descr="pid-eid_nsigma_vs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630" y="1261872"/>
            <a:ext cx="3408554" cy="2615184"/>
          </a:xfrm>
          <a:prstGeom prst="rect">
            <a:avLst/>
          </a:prstGeom>
        </p:spPr>
      </p:pic>
      <p:pic>
        <p:nvPicPr>
          <p:cNvPr id="5" name="Picture 4" descr="pid-eid_nsigma_vs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630" y="4014215"/>
            <a:ext cx="3408554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Working points: max-significance cuts per channel and pT bin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pid-eid_significance_vs_cut_panels.png — FOM(c) per pT bin with c*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FOM(c) = S(c)/√(S(c)+B(c));  c* = argmax; ties → most rejective; Σw² variances when weighted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Per-bin c*(pT): bins lacking a species get no curve and a grey panel with the reason — never interpolated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Degenerate optima labelled (accept-everything, permissive, pinned, &lt;5 bkg) rather than presented as selections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Grey panels name their reason (e.g. only N signal / 0 background) — the bkg tag has more of them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13 figures/channel; manifests 104/104 clean + 26/26 bkg; eid/ehad clean-vs-bkg comparisons written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pid performance on all_scores.pkl (test rows); output/pid-{eid,ehad,Kpi,pK}_lightgbm_{clean,bkg_mixed}-*.json</a:t>
            </a:r>
          </a:p>
        </p:txBody>
      </p:sp>
      <p:pic>
        <p:nvPicPr>
          <p:cNvPr id="4" name="Picture 3" descr="pid-eid_significance_vs_cut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257" y="1261872"/>
            <a:ext cx="5645299" cy="53675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Pion rejection vs momentum, with honest limits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pion rejection vs p, clean (top) vs +background (bottom)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R = 1/f(c*);  zero passing background → R undefined → 95% Clopper-Pearson LOWER limit R &gt; 1/f_upper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Clean (top): measured points where statistics allow; orange triangles = limit-only bins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Bkg (bottom): thinner — more limit arrows, the price of 180 held-out pions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Error bars reach down to the limit; electron channel ships this as pion_rejection_vs_p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output/plots_{clean,bkg_mixed}/pid-eid_pion_rejection_vs_p.png (count-based limits)</a:t>
            </a:r>
          </a:p>
        </p:txBody>
      </p:sp>
      <p:pic>
        <p:nvPicPr>
          <p:cNvPr id="4" name="Picture 3" descr="pid-eid_pion_rejection_vs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295" y="1261872"/>
            <a:ext cx="3297223" cy="2615184"/>
          </a:xfrm>
          <a:prstGeom prst="rect">
            <a:avLst/>
          </a:prstGeom>
        </p:spPr>
      </p:pic>
      <p:pic>
        <p:nvPicPr>
          <p:cNvPr id="5" name="Picture 4" descr="pid-eid_pion_rejection_vs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927" y="4014215"/>
            <a:ext cx="3313961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Where the selection works: 2D efficiency and fake maps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efficiency (top) and fake-rate (bottom) in (pT, η) at c*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cell: eff = S/Stot, fake = B/Btot at c*; cells with &lt; 20 candidates masked NaN (white), never zero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Counts annotated per cell — a dip with high counts is a detector crack; a white cell is unmeasured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Uniform pT bins 0.5–10 GeV × η bins 0.5; reco-binned (what a cut is applied to) with truth-binned *_truthpt twins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output/pid-eid_lightgbm_clean-{eff,fake}_map_pt_vs_eta{,_truthpt}.json</a:t>
            </a:r>
          </a:p>
        </p:txBody>
      </p:sp>
      <p:pic>
        <p:nvPicPr>
          <p:cNvPr id="4" name="Picture 3" descr="pid-eid_eff_map_pt_vs_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908" y="1261872"/>
            <a:ext cx="3411997" cy="2615184"/>
          </a:xfrm>
          <a:prstGeom prst="rect">
            <a:avLst/>
          </a:prstGeom>
        </p:spPr>
      </p:pic>
      <p:pic>
        <p:nvPicPr>
          <p:cNvPr id="5" name="Picture 4" descr="pid-eid_fake_map_pt_vs_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434" y="4014215"/>
            <a:ext cx="3456946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Overtraining check: shapes coincide at peak = 1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counts (top) vs peak-normalised (bottom) — no memorisation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Counts (top): train floats above test by the 3× row ratio — expected; peak-normalised (bottom): shapes coincide at 1.0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Per-class train/test score histograms + two-sample KS: e KS = 0.005 (p = 0.51), π KS = 0.040 — no memorisation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Train rows used ONLY here; every merit is computed on held-out files (file-grouped splits); gap gate ≤ 0.02 (measured 0.0008)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output/plots_clean/pid-eid_score_dist_train_vs_test{,_density}.png from all_scores.pkl</a:t>
            </a:r>
          </a:p>
        </p:txBody>
      </p:sp>
      <p:pic>
        <p:nvPicPr>
          <p:cNvPr id="4" name="Picture 3" descr="pid-eid_score_dist_train_v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805" y="1261872"/>
            <a:ext cx="5030204" cy="2615184"/>
          </a:xfrm>
          <a:prstGeom prst="rect">
            <a:avLst/>
          </a:prstGeom>
        </p:spPr>
      </p:pic>
      <p:pic>
        <p:nvPicPr>
          <p:cNvPr id="5" name="Picture 4" descr="pid-eid_score_dist_train_vs_test_p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508" y="4014215"/>
            <a:ext cx="5012798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Overtraining check: ehad agrees too (peak = 1)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counts (top) vs peak-normalised (bottom) — ehad, clean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Counts (top) vs peak-normalised (bottom): e KS = 0.006, hadron KS = 0.043 — same story as eid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Train−test AUC gap 0.0009 (lightgbm clean); label-shuffle control passed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Kpi/pK peak twins also written (plots_clean); their KS ~0.10–0.14 reflects weak models on small samples, consistent with the failed train−test gap gate there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output/plots_clean/pid-ehad_score_dist_train_vs_test{,_peak}.png from all_scores.pkl</a:t>
            </a:r>
          </a:p>
        </p:txBody>
      </p:sp>
      <p:pic>
        <p:nvPicPr>
          <p:cNvPr id="4" name="Picture 3" descr="pid-ehad_score_dist_train_v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805" y="1261872"/>
            <a:ext cx="5030204" cy="2615184"/>
          </a:xfrm>
          <a:prstGeom prst="rect">
            <a:avLst/>
          </a:prstGeom>
        </p:spPr>
      </p:pic>
      <p:pic>
        <p:nvPicPr>
          <p:cNvPr id="5" name="Picture 4" descr="pid-ehad_score_dist_train_vs_test_p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508" y="4014215"/>
            <a:ext cx="5012798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ML confusion: who gets mistaken for whom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pid-hadpid_confusion_matrix.png — row-normalised, counts annotated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5212080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row fraction = N_ij/N_i  [efficiency view];  col fraction = N_ij/M_j  [purity view]; Wilson intervals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Built from HELD-OUT rows only (in-sample recall flatters: K 72% in-sample vs 27% held out on smoke)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At-cut version uses per-class c* with an explicit UNASSIGNED column — the PID may decline to identify a track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Cells annotated with % + counts; blue intensity = row fraction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Task-level figure (hadpid task, written once); complements the reconstructor's own confusion (4,138 bins compared)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output/pid-hadpid_lightgbm_clean-confusion.json + confusion_matrix_atcut</a:t>
            </a:r>
          </a:p>
        </p:txBody>
      </p:sp>
      <p:pic>
        <p:nvPicPr>
          <p:cNvPr id="4" name="Picture 3" descr="pid-hadpid_lightgbm_clean-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87661"/>
            <a:ext cx="5928055" cy="49159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Clean vs +background: ratios, differences, and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1872"/>
            <a:ext cx="11274552" cy="5367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4E79"/>
                </a:solidFill>
              </a:defRPr>
            </a:pPr>
            <a:r>
              <a:t>ratio R = b/c, (δR/R)² = (δb/b)² + (δc/c)² (R=0 carries db/|c|);  diff D = b−c, δD = √(δb²+δc²)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Tracking: acceptance/efficiency/resolution agree; fake rate explodes at low pT. PID: eid nσ 4.03→3.58, eff@1% 96.9%→89.4%</a:t>
            </a:r>
          </a:p>
          <a:p>
            <a:pPr>
              <a:spcAft>
                <a:spcPts val="300"/>
              </a:spcAft>
              <a:defRPr sz="1600" b="0">
                <a:solidFill>
                  <a:srgbClr val="000000"/>
                </a:solidFill>
              </a:defRPr>
            </a:pPr>
            <a:r>
              <a:t>Bkg statistics ceiling ≈ 10⁻³ fake rate without minQ2 escalation (545/606 efficiency bins flagged on bkg side)</a:t>
            </a:r>
          </a:p>
          <a:p>
            <a:pPr>
              <a:spcAft>
                <a:spcPts val="300"/>
              </a:spcAft>
              <a:defRPr sz="1600" b="1">
                <a:solidFill>
                  <a:srgbClr val="C00000"/>
                </a:solidFill>
              </a:defRPr>
            </a:pPr>
            <a:r>
              <a:t>Caveats: different campaigns (acceptance agreement is the cross-check); ML points preliminary (E/p gate); hadron channels exploratory</a:t>
            </a:r>
          </a:p>
          <a:p>
            <a:pPr>
              <a:spcAft>
                <a:spcPts val="300"/>
              </a:spcAft>
              <a:defRPr sz="1300" b="0">
                <a:solidFill>
                  <a:srgbClr val="404040"/>
                </a:solidFill>
              </a:defRPr>
            </a:pPr>
            <a:r>
              <a:t>Source: output/*_comparison.json + pid compare (eid/ehad overall, vs_pt, vs_eta + summaries)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